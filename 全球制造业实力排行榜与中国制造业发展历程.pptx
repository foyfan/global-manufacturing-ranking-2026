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制造业增加值 (万亿美元)</c:v>
                </c:pt>
              </c:strCache>
            </c:strRef>
          </c:tx>
          <c:spPr>
            <a:solidFill>
              <a:srgbClr val="1565C0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1100">
                    <a:solidFill>
                      <a:srgbClr val="1E1E2E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土耳其</c:v>
                </c:pt>
                <c:pt idx="1">
                  <c:v>印尼</c:v>
                </c:pt>
                <c:pt idx="2">
                  <c:v>巴西</c:v>
                </c:pt>
                <c:pt idx="3">
                  <c:v>加拿大</c:v>
                </c:pt>
                <c:pt idx="4">
                  <c:v>意大利</c:v>
                </c:pt>
                <c:pt idx="5">
                  <c:v>法国</c:v>
                </c:pt>
                <c:pt idx="6">
                  <c:v>英国</c:v>
                </c:pt>
                <c:pt idx="7">
                  <c:v>俄罗斯</c:v>
                </c:pt>
                <c:pt idx="8">
                  <c:v>墨西哥</c:v>
                </c:pt>
                <c:pt idx="9">
                  <c:v>韩国</c:v>
                </c:pt>
                <c:pt idx="10">
                  <c:v>印度</c:v>
                </c:pt>
                <c:pt idx="11">
                  <c:v>德国</c:v>
                </c:pt>
                <c:pt idx="12">
                  <c:v>日本</c:v>
                </c:pt>
                <c:pt idx="13">
                  <c:v>美国</c:v>
                </c:pt>
                <c:pt idx="14">
                  <c:v>中国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0.17</c:v>
                </c:pt>
                <c:pt idx="1">
                  <c:v>0.18</c:v>
                </c:pt>
                <c:pt idx="2">
                  <c:v>0.2</c:v>
                </c:pt>
                <c:pt idx="3">
                  <c:v>0.22</c:v>
                </c:pt>
                <c:pt idx="4">
                  <c:v>0.27</c:v>
                </c:pt>
                <c:pt idx="5">
                  <c:v>0.28</c:v>
                </c:pt>
                <c:pt idx="6">
                  <c:v>0.3</c:v>
                </c:pt>
                <c:pt idx="7">
                  <c:v>0.35</c:v>
                </c:pt>
                <c:pt idx="8">
                  <c:v>0.38</c:v>
                </c:pt>
                <c:pt idx="9">
                  <c:v>0.43</c:v>
                </c:pt>
                <c:pt idx="10">
                  <c:v>0.45</c:v>
                </c:pt>
                <c:pt idx="11">
                  <c:v>0.75</c:v>
                </c:pt>
                <c:pt idx="12">
                  <c:v>0.85</c:v>
                </c:pt>
                <c:pt idx="13">
                  <c:v>2.5</c:v>
                </c:pt>
                <c:pt idx="14">
                  <c:v>4.7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占全球比重(%)</c:v>
                </c:pt>
              </c:strCache>
            </c:strRef>
          </c:tx>
          <c:dPt>
            <c:idx val="0"/>
            <c:spPr>
              <a:solidFill>
                <a:srgbClr val="1565C0"/>
              </a:solidFill>
            </c:spPr>
          </c:dPt>
          <c:dPt>
            <c:idx val="1"/>
            <c:spPr>
              <a:solidFill>
                <a:srgbClr val="42A5F5"/>
              </a:solidFill>
            </c:spPr>
          </c:dPt>
          <c:dPt>
            <c:idx val="2"/>
            <c:spPr>
              <a:solidFill>
                <a:srgbClr val="00897B"/>
              </a:solidFill>
            </c:spPr>
          </c:dPt>
          <c:dPt>
            <c:idx val="3"/>
            <c:spPr>
              <a:solidFill>
                <a:srgbClr val="FB8C00"/>
              </a:solidFill>
            </c:spPr>
          </c:dPt>
          <c:dPt>
            <c:idx val="4"/>
            <c:spPr>
              <a:solidFill>
                <a:srgbClr val="7CB342"/>
              </a:solidFill>
            </c:spPr>
          </c:dPt>
          <c:dPt>
            <c:idx val="5"/>
            <c:spPr>
              <a:solidFill>
                <a:srgbClr val="8E24AA"/>
              </a:solidFill>
            </c:spPr>
          </c:dPt>
          <c:dPt>
            <c:idx val="6"/>
            <c:spPr>
              <a:solidFill>
                <a:srgbClr val="BBBBBB"/>
              </a:solidFill>
            </c:spPr>
          </c:dPt>
          <c:cat>
            <c:strRef>
              <c:f>Sheet1!$A$2:$A$8</c:f>
              <c:strCache>
                <c:ptCount val="7"/>
                <c:pt idx="0">
                  <c:v>中国</c:v>
                </c:pt>
                <c:pt idx="1">
                  <c:v>美国</c:v>
                </c:pt>
                <c:pt idx="2">
                  <c:v>日本</c:v>
                </c:pt>
                <c:pt idx="3">
                  <c:v>德国</c:v>
                </c:pt>
                <c:pt idx="4">
                  <c:v>印度</c:v>
                </c:pt>
                <c:pt idx="5">
                  <c:v>韩国</c:v>
                </c:pt>
                <c:pt idx="6">
                  <c:v>其他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30.2</c:v>
                </c:pt>
                <c:pt idx="1">
                  <c:v>16.4</c:v>
                </c:pt>
                <c:pt idx="2">
                  <c:v>6.1</c:v>
                </c:pt>
                <c:pt idx="3">
                  <c:v>5.3</c:v>
                </c:pt>
                <c:pt idx="4">
                  <c:v>3.2</c:v>
                </c:pt>
                <c:pt idx="5">
                  <c:v>3.0</c:v>
                </c:pt>
                <c:pt idx="6">
                  <c:v>35.8</c:v>
                </c:pt>
              </c:numCache>
            </c:numRef>
          </c:val>
        </c:ser>
        <c:dLbls>
          <c:numFmt formatCode="0.0&quot;%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制造业增加值 (万亿美元)</c:v>
                </c:pt>
              </c:strCache>
            </c:strRef>
          </c:tx>
          <c:spPr>
            <a:ln w="38100">
              <a:solidFill>
                <a:srgbClr val="1565C0"/>
              </a:solidFill>
            </a:ln>
          </c:spPr>
          <c:dLbls>
            <c:numFmt formatCode="0.00" sourceLinked="0"/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2000</c:v>
                </c:pt>
                <c:pt idx="1">
                  <c:v>2002</c:v>
                </c:pt>
                <c:pt idx="2">
                  <c:v>2004</c:v>
                </c:pt>
                <c:pt idx="3">
                  <c:v>2006</c:v>
                </c:pt>
                <c:pt idx="4">
                  <c:v>2008</c:v>
                </c:pt>
                <c:pt idx="5">
                  <c:v>2010</c:v>
                </c:pt>
                <c:pt idx="6">
                  <c:v>2012</c:v>
                </c:pt>
                <c:pt idx="7">
                  <c:v>2014</c:v>
                </c:pt>
                <c:pt idx="8">
                  <c:v>2016</c:v>
                </c:pt>
                <c:pt idx="9">
                  <c:v>2018</c:v>
                </c:pt>
                <c:pt idx="10">
                  <c:v>2020</c:v>
                </c:pt>
                <c:pt idx="11">
                  <c:v>2022</c:v>
                </c:pt>
                <c:pt idx="12">
                  <c:v>2024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0.5</c:v>
                </c:pt>
                <c:pt idx="1">
                  <c:v>0.55</c:v>
                </c:pt>
                <c:pt idx="2">
                  <c:v>0.7</c:v>
                </c:pt>
                <c:pt idx="3">
                  <c:v>1.0</c:v>
                </c:pt>
                <c:pt idx="4">
                  <c:v>1.5</c:v>
                </c:pt>
                <c:pt idx="5">
                  <c:v>1.9</c:v>
                </c:pt>
                <c:pt idx="6">
                  <c:v>2.3</c:v>
                </c:pt>
                <c:pt idx="7">
                  <c:v>2.8</c:v>
                </c:pt>
                <c:pt idx="8">
                  <c:v>3.1</c:v>
                </c:pt>
                <c:pt idx="9">
                  <c:v>3.7</c:v>
                </c:pt>
                <c:pt idx="10">
                  <c:v>3.9</c:v>
                </c:pt>
                <c:pt idx="11">
                  <c:v>4.4</c:v>
                </c:pt>
                <c:pt idx="12">
                  <c:v>4.7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产值 (万亿美元)</c:v>
                </c:pt>
              </c:strCache>
            </c:strRef>
          </c:tx>
          <c:spPr>
            <a:solidFill>
              <a:srgbClr val="1565C0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10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电子信息</c:v>
                </c:pt>
                <c:pt idx="1">
                  <c:v>化学工业</c:v>
                </c:pt>
                <c:pt idx="2">
                  <c:v>汽车制造</c:v>
                </c:pt>
                <c:pt idx="3">
                  <c:v>机械设备</c:v>
                </c:pt>
                <c:pt idx="4">
                  <c:v>钢铁冶金</c:v>
                </c:pt>
                <c:pt idx="5">
                  <c:v>纺织轻工</c:v>
                </c:pt>
                <c:pt idx="6">
                  <c:v>新能源</c:v>
                </c:pt>
                <c:pt idx="7">
                  <c:v>生物医药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1.03</c:v>
                </c:pt>
                <c:pt idx="1">
                  <c:v>0.66</c:v>
                </c:pt>
                <c:pt idx="2">
                  <c:v>0.56</c:v>
                </c:pt>
                <c:pt idx="3">
                  <c:v>0.52</c:v>
                </c:pt>
                <c:pt idx="4">
                  <c:v>0.42</c:v>
                </c:pt>
                <c:pt idx="5">
                  <c:v>0.33</c:v>
                </c:pt>
                <c:pt idx="6">
                  <c:v>0.28</c:v>
                </c:pt>
                <c:pt idx="7">
                  <c:v>0.22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中国</c:v>
                </c:pt>
              </c:strCache>
            </c:strRef>
          </c:tx>
          <c:spPr>
            <a:solidFill>
              <a:srgbClr val="1565C0"/>
            </a:solidFill>
          </c:spPr>
          <c:dLbls>
            <c:txPr>
              <a:bodyPr/>
              <a:lstStyle/>
              <a:p>
                <a:pPr>
                  <a:defRPr sz="10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MVA
(万亿$)</c:v>
                </c:pt>
                <c:pt idx="1">
                  <c:v>全球
占比(%)</c:v>
                </c:pt>
                <c:pt idx="2">
                  <c:v>制造业
就业(百万人)</c:v>
                </c:pt>
                <c:pt idx="3">
                  <c:v>工业
门类(个)</c:v>
                </c:pt>
                <c:pt idx="4">
                  <c:v>世界500强
制造业(家)</c:v>
                </c:pt>
                <c:pt idx="5">
                  <c:v>占GDP
比重(%)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4.7</c:v>
                </c:pt>
                <c:pt idx="1">
                  <c:v>30.2</c:v>
                </c:pt>
                <c:pt idx="2">
                  <c:v>150</c:v>
                </c:pt>
                <c:pt idx="3">
                  <c:v>41</c:v>
                </c:pt>
                <c:pt idx="4">
                  <c:v>52</c:v>
                </c:pt>
                <c:pt idx="5">
                  <c:v>26.8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美国</c:v>
                </c:pt>
              </c:strCache>
            </c:strRef>
          </c:tx>
          <c:spPr>
            <a:solidFill>
              <a:srgbClr val="FB8C00"/>
            </a:solidFill>
          </c:spPr>
          <c:dLbls>
            <c:txPr>
              <a:bodyPr/>
              <a:lstStyle/>
              <a:p>
                <a:pPr>
                  <a:defRPr sz="10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MVA
(万亿$)</c:v>
                </c:pt>
                <c:pt idx="1">
                  <c:v>全球
占比(%)</c:v>
                </c:pt>
                <c:pt idx="2">
                  <c:v>制造业
就业(百万人)</c:v>
                </c:pt>
                <c:pt idx="3">
                  <c:v>工业
门类(个)</c:v>
                </c:pt>
                <c:pt idx="4">
                  <c:v>世界500强
制造业(家)</c:v>
                </c:pt>
                <c:pt idx="5">
                  <c:v>占GDP
比重(%)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2.5</c:v>
                </c:pt>
                <c:pt idx="1">
                  <c:v>16.4</c:v>
                </c:pt>
                <c:pt idx="2">
                  <c:v>12.8</c:v>
                </c:pt>
                <c:pt idx="3">
                  <c:v>30</c:v>
                </c:pt>
                <c:pt idx="4">
                  <c:v>28</c:v>
                </c:pt>
                <c:pt idx="5">
                  <c:v>11.0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32004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09560"/>
            <a:ext cx="14630400" cy="32004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64008" cy="9144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1E2E"/>
                </a:solidFill>
              </a:defRPr>
            </a:pPr>
            <a:r>
              <a:t>全球制造业实力排行榜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108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66666"/>
                </a:solidFill>
              </a:defRPr>
            </a:pPr>
            <a:r>
              <a:t>中国制造业发展历程与全景数据分析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4023360"/>
            <a:ext cx="27432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480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</a:defRPr>
            </a:pPr>
            <a:r>
              <a:t>基于世界银行、联合国工业发展组织(UNIDO)及各国统计局最新数据综合整理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</a:defRPr>
            </a:pPr>
            <a:r>
              <a:t>制造业增加值(MVA) — 按当前美元计价 | 数据截至2024年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作者：foy.fan@outlook.com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949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BBBBBB"/>
                </a:solidFill>
              </a:defRPr>
            </a:pPr>
            <a:r>
              <a:t>2024年度报告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E2E"/>
                </a:solidFill>
              </a:defRPr>
            </a:pPr>
            <a:r>
              <a:t>全球制造业增加值 Top 15 排名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005840"/>
          <a:ext cx="8686800" cy="6217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9418320" y="1097280"/>
            <a:ext cx="4754880" cy="603504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1280160"/>
            <a:ext cx="4389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1E2E"/>
                </a:solidFill>
              </a:defRPr>
            </a:pPr>
          </a:p>
          <a:p>
            <a:pPr algn="l">
              <a:spcBef>
                <a:spcPts val="0"/>
              </a:spcBef>
              <a:defRPr sz="2000" b="1">
                <a:solidFill>
                  <a:srgbClr val="1565C0"/>
                </a:solidFill>
              </a:defRPr>
            </a:pPr>
            <a:r>
              <a:t>数据亮点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1E1E2E"/>
                </a:solidFill>
              </a:defRPr>
            </a:pPr>
            <a:r>
              <a:t>中国制造业增加值达 $4.7 万亿美元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1E1E2E"/>
                </a:solidFill>
              </a:defRPr>
            </a:pPr>
            <a:r>
              <a:t>占全球制造业总产出的 30% 以上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FB8C00"/>
                </a:solidFill>
              </a:defRPr>
            </a:pPr>
            <a:r>
              <a:t>超过第2-4名（美日德）总和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200" b="1">
                <a:solidFill>
                  <a:srgbClr val="666666"/>
                </a:solidFill>
              </a:defRPr>
            </a:pPr>
            <a:r>
              <a:t>—— 排名格局 ——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E1E2E"/>
                </a:solidFill>
              </a:defRPr>
            </a:pPr>
            <a:r>
              <a:t>Top 5国家占全球 MVA 约 65%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E1E2E"/>
                </a:solidFill>
              </a:defRPr>
            </a:pPr>
            <a:r>
              <a:t>亚洲三国（中日韩）合计超 38%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E1E2E"/>
                </a:solidFill>
              </a:defRPr>
            </a:pPr>
            <a:r>
              <a:t>新兴市场国家（印、墨、俄）上升显著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100" b="0">
                <a:solidFill>
                  <a:srgbClr val="BBBBBB"/>
                </a:solidFill>
              </a:defRPr>
            </a:pPr>
            <a:r>
              <a:t>数据来源：世界银行 / UNIDO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E2E"/>
                </a:solidFill>
              </a:defRPr>
            </a:pPr>
            <a:r>
              <a:t>中国制造业 — 全球占比与核心指标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005840"/>
          <a:ext cx="64008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0" y="1097280"/>
            <a:ext cx="6858000" cy="1143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097280"/>
            <a:ext cx="64008" cy="1143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143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65C0"/>
                </a:solidFill>
              </a:defRPr>
            </a:pPr>
            <a:r>
              <a:t>$4.7 万亿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5727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制造业增加值 (MVA)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84708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2E"/>
                </a:solidFill>
              </a:defRPr>
            </a:pPr>
            <a:r>
              <a:t>全球第一，占世界超30%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423160"/>
            <a:ext cx="6858000" cy="1143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2423160"/>
            <a:ext cx="64008" cy="1143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24688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897B"/>
                </a:solidFill>
              </a:defRPr>
            </a:pPr>
            <a:r>
              <a:t>220+ 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89864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产品产量全球第一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17296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2E"/>
                </a:solidFill>
              </a:defRPr>
            </a:pPr>
            <a:r>
              <a:t>钢铁、水泥、汽车、电子产品等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749039"/>
            <a:ext cx="6858000" cy="1143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3749039"/>
            <a:ext cx="64008" cy="11430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379475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B8C00"/>
                </a:solidFill>
              </a:defRPr>
            </a:pPr>
            <a:r>
              <a:t>41 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224527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工业大类全覆盖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4988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2E"/>
                </a:solidFill>
              </a:defRPr>
            </a:pPr>
            <a:r>
              <a:t>联合国产业分类中全部工业门类中国均有布局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5074920"/>
            <a:ext cx="6858000" cy="1143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5074920"/>
            <a:ext cx="64008" cy="1143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5120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B300"/>
                </a:solidFill>
              </a:defRPr>
            </a:pPr>
            <a:r>
              <a:t>500+ 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55040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世界500强工业企业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82472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2E"/>
                </a:solidFill>
              </a:defRPr>
            </a:pPr>
            <a:r>
              <a:t>数量居全球之首，产业链布局完整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675120"/>
            <a:ext cx="13716000" cy="73152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72084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2E"/>
                </a:solidFill>
              </a:defRPr>
            </a:pPr>
            <a:r>
              <a:rPr b="1" sz="1300">
                <a:solidFill>
                  <a:srgbClr val="1565C0"/>
                </a:solidFill>
              </a:rPr>
              <a:t>核心洞察：</a:t>
            </a:r>
            <a:r>
              <a:rPr sz="1300">
                <a:solidFill>
                  <a:srgbClr val="1E1E2E"/>
                </a:solidFill>
              </a:rPr>
              <a:t> 中国是全球唯一拥有完整工业体系的国家（41个工业大类、207个中类、666个小类全部覆盖），制造业增加值相当于美国、日本、德国三国之和。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E2E"/>
                </a:solidFill>
              </a:defRPr>
            </a:pPr>
            <a:r>
              <a:t>中国制造业增加值增长轨迹（2000-2024）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005840"/>
          <a:ext cx="86868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9418320" y="1097280"/>
            <a:ext cx="4754880" cy="603504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1280160"/>
            <a:ext cx="4389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1E2E"/>
                </a:solidFill>
              </a:defRPr>
            </a:pPr>
          </a:p>
          <a:p>
            <a:pPr algn="l">
              <a:spcBef>
                <a:spcPts val="0"/>
              </a:spcBef>
              <a:defRPr sz="2000" b="1">
                <a:solidFill>
                  <a:srgbClr val="1565C0"/>
                </a:solidFill>
              </a:defRPr>
            </a:pPr>
            <a:r>
              <a:t>关键里程碑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1E1E2E"/>
                </a:solidFill>
              </a:defRPr>
            </a:pPr>
            <a:r>
              <a:t>2001  加入WTO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66666"/>
                </a:solidFill>
              </a:defRPr>
            </a:pPr>
            <a:r>
              <a:t>  融入全球贸易体系，制造业起飞</a:t>
            </a:r>
          </a:p>
          <a:p>
            <a:pPr algn="l">
              <a:spcBef>
                <a:spcPts val="600"/>
              </a:spcBef>
              <a:defRPr sz="3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1E1E2E"/>
                </a:solidFill>
              </a:defRPr>
            </a:pPr>
            <a:r>
              <a:t>2010  超越美国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66666"/>
                </a:solidFill>
              </a:defRPr>
            </a:pPr>
            <a:r>
              <a:t>  制造业增加值首次超越美国，成为世界第一</a:t>
            </a:r>
          </a:p>
          <a:p>
            <a:pPr algn="l">
              <a:spcBef>
                <a:spcPts val="600"/>
              </a:spcBef>
              <a:defRPr sz="3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1E1E2E"/>
                </a:solidFill>
              </a:defRPr>
            </a:pPr>
            <a:r>
              <a:t>2015  中国制造2025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66666"/>
                </a:solidFill>
              </a:defRPr>
            </a:pPr>
            <a:r>
              <a:t>  高端制造转型战略全面启动</a:t>
            </a:r>
          </a:p>
          <a:p>
            <a:pPr algn="l">
              <a:spcBef>
                <a:spcPts val="600"/>
              </a:spcBef>
              <a:defRPr sz="3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1E1E2E"/>
                </a:solidFill>
              </a:defRPr>
            </a:pPr>
            <a:r>
              <a:t>2020  疫情后产能爆发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66666"/>
                </a:solidFill>
              </a:defRPr>
            </a:pPr>
            <a:r>
              <a:t>  率先复工复产，全球份额持续扩大</a:t>
            </a:r>
          </a:p>
          <a:p>
            <a:pPr algn="l">
              <a:spcBef>
                <a:spcPts val="600"/>
              </a:spcBef>
              <a:defRPr sz="3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1E1E2E"/>
                </a:solidFill>
              </a:defRPr>
            </a:pPr>
            <a:r>
              <a:t>2024  $4.7万亿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66666"/>
                </a:solidFill>
              </a:defRPr>
            </a:pPr>
            <a:r>
              <a:t>  超过美日德之和，稳居全球第一</a:t>
            </a:r>
          </a:p>
          <a:p>
            <a:pPr algn="l">
              <a:spcBef>
                <a:spcPts val="600"/>
              </a:spcBef>
              <a:defRPr sz="300" b="0">
                <a:solidFill>
                  <a:srgbClr val="FFFFFF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6858000"/>
            <a:ext cx="13716000" cy="54864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9037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2E"/>
                </a:solidFill>
              </a:defRPr>
            </a:pPr>
            <a:r>
              <a:rPr b="1" sz="1300">
                <a:solidFill>
                  <a:srgbClr val="1565C0"/>
                </a:solidFill>
              </a:rPr>
              <a:t>增长数据：</a:t>
            </a:r>
            <a:r>
              <a:rPr sz="1300">
                <a:solidFill>
                  <a:srgbClr val="1E1E2E"/>
                </a:solidFill>
              </a:rPr>
              <a:t> 2000-2024年，中国制造业增加值从$0.5万亿增长至$4.7万亿，增长约9倍，年均复合增长率约10.2%。全球占比从6.5%提升至30%以上。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E2E"/>
                </a:solidFill>
              </a:defRPr>
            </a:pPr>
            <a:r>
              <a:t>中国制造业核心产业版图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005840"/>
          <a:ext cx="9601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10241280" y="1097280"/>
            <a:ext cx="3931920" cy="603504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1280160"/>
            <a:ext cx="3566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1E2E"/>
                </a:solidFill>
              </a:defRPr>
            </a:pPr>
          </a:p>
          <a:p>
            <a:pPr algn="l">
              <a:spcBef>
                <a:spcPts val="0"/>
              </a:spcBef>
              <a:defRPr sz="2000" b="1">
                <a:solidFill>
                  <a:srgbClr val="1565C0"/>
                </a:solidFill>
              </a:defRPr>
            </a:pPr>
            <a:r>
              <a:t>产业亮点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1565C0"/>
                </a:solidFill>
              </a:defRPr>
            </a:pPr>
            <a:r>
              <a:t>▸ 新能源车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66666"/>
                </a:solidFill>
              </a:defRPr>
            </a:pPr>
            <a:r>
              <a:t>  产量超1200万辆，全球份额超65%</a:t>
            </a:r>
          </a:p>
          <a:p>
            <a:pPr algn="l">
              <a:spcBef>
                <a:spcPts val="600"/>
              </a:spcBef>
              <a:defRPr sz="3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00897B"/>
                </a:solidFill>
              </a:defRPr>
            </a:pPr>
            <a:r>
              <a:t>▸ 5G/6G通信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66666"/>
                </a:solidFill>
              </a:defRPr>
            </a:pPr>
            <a:r>
              <a:t>  全球5G基站占比超60%</a:t>
            </a:r>
          </a:p>
          <a:p>
            <a:pPr algn="l">
              <a:spcBef>
                <a:spcPts val="600"/>
              </a:spcBef>
              <a:defRPr sz="3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FB8C00"/>
                </a:solidFill>
              </a:defRPr>
            </a:pPr>
            <a:r>
              <a:t>▸ 光伏产业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66666"/>
                </a:solidFill>
              </a:defRPr>
            </a:pPr>
            <a:r>
              <a:t>  全球 90%+ 光伏组件产自中国</a:t>
            </a:r>
          </a:p>
          <a:p>
            <a:pPr algn="l">
              <a:spcBef>
                <a:spcPts val="600"/>
              </a:spcBef>
              <a:defRPr sz="3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7CB342"/>
                </a:solidFill>
              </a:defRPr>
            </a:pPr>
            <a:r>
              <a:t>▸ 动力电池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66666"/>
                </a:solidFill>
              </a:defRPr>
            </a:pPr>
            <a:r>
              <a:t>  宁德时代、比亚迪占全球前二</a:t>
            </a:r>
          </a:p>
          <a:p>
            <a:pPr algn="l">
              <a:spcBef>
                <a:spcPts val="600"/>
              </a:spcBef>
              <a:defRPr sz="3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8E24AA"/>
                </a:solidFill>
              </a:defRPr>
            </a:pPr>
            <a:r>
              <a:t>▸ 高铁装备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66666"/>
                </a:solidFill>
              </a:defRPr>
            </a:pPr>
            <a:r>
              <a:t>  运营里程4.5万公里，占全球2/3</a:t>
            </a:r>
          </a:p>
          <a:p>
            <a:pPr algn="l">
              <a:spcBef>
                <a:spcPts val="600"/>
              </a:spcBef>
              <a:defRPr sz="3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D81B60"/>
                </a:solidFill>
              </a:defRPr>
            </a:pPr>
            <a:r>
              <a:t>▸ 工业机器人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66666"/>
                </a:solidFill>
              </a:defRPr>
            </a:pPr>
            <a:r>
              <a:t>  装机量占全球52%，连续多年第一</a:t>
            </a:r>
          </a:p>
          <a:p>
            <a:pPr algn="l">
              <a:spcBef>
                <a:spcPts val="600"/>
              </a:spcBef>
              <a:defRPr sz="3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666666"/>
                </a:solidFill>
              </a:defRPr>
            </a:pPr>
            <a:r>
              <a:t>在新能源、通信、光伏、电池等新兴领域，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66666"/>
                </a:solidFill>
              </a:defRPr>
            </a:pPr>
            <a:r>
              <a:t>中国已确立全球领先地位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858000"/>
            <a:ext cx="13716000" cy="54864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9037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1E2E"/>
                </a:solidFill>
              </a:defRPr>
            </a:pPr>
            <a:r>
              <a:t>中国在电子信息、新能源等新兴领域已形成全球领先的产业集群，新能源车和光伏产业市占率均超65%。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E2E"/>
                </a:solidFill>
              </a:defRPr>
            </a:pPr>
            <a:r>
              <a:t>中美制造业全景对比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005840"/>
          <a:ext cx="86868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9418320" y="1097280"/>
            <a:ext cx="4754880" cy="603504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1280160"/>
            <a:ext cx="4389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1E2E"/>
                </a:solidFill>
              </a:defRPr>
            </a:pPr>
          </a:p>
          <a:p>
            <a:pPr algn="l">
              <a:spcBef>
                <a:spcPts val="0"/>
              </a:spcBef>
              <a:defRPr sz="2000" b="1">
                <a:solidFill>
                  <a:srgbClr val="1565C0"/>
                </a:solidFill>
              </a:defRPr>
            </a:pPr>
            <a:r>
              <a:t>对比分析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00897B"/>
                </a:solidFill>
              </a:defRPr>
            </a:pPr>
            <a:r>
              <a:t>中国优势领域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E1E2E"/>
                </a:solidFill>
              </a:defRPr>
            </a:pPr>
            <a:r>
              <a:t>  • 总量规模：接近美国2倍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E1E2E"/>
                </a:solidFill>
              </a:defRPr>
            </a:pPr>
            <a:r>
              <a:t>  • 就业规模：制造业从业者1.5亿人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E1E2E"/>
                </a:solidFill>
              </a:defRPr>
            </a:pPr>
            <a:r>
              <a:t>  • 工业门类：全球唯一全产业链国家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E1E2E"/>
                </a:solidFill>
              </a:defRPr>
            </a:pPr>
            <a:r>
              <a:t>  • 产业工人：高素质+高效率持续升级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FB8C00"/>
                </a:solidFill>
              </a:defRPr>
            </a:pPr>
            <a:r>
              <a:t>美国优势领域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E1E2E"/>
                </a:solidFill>
              </a:defRPr>
            </a:pPr>
            <a:r>
              <a:t>  • 高端制造：半导体、航空发动机领先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E1E2E"/>
                </a:solidFill>
              </a:defRPr>
            </a:pPr>
            <a:r>
              <a:t>  • 品牌溢价：跨国公司利润率更高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E1E2E"/>
                </a:solidFill>
              </a:defRPr>
            </a:pPr>
            <a:r>
              <a:t>  • 专利技术：基础研发投入遥遥领先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E1E2E"/>
                </a:solidFill>
              </a:defRPr>
            </a:pPr>
            <a:r>
              <a:t>  • 智能制造：工业互联网与AI应用领先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1565C0"/>
                </a:solidFill>
              </a:defRPr>
            </a:pPr>
            <a:r>
              <a:t>两国制造业各有所长，互补性强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858000"/>
            <a:ext cx="13716000" cy="54864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9037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1E2E"/>
                </a:solidFill>
              </a:defRPr>
            </a:pPr>
            <a:r>
              <a:t>中美两国制造业增加值合计占全球近47%，共同构成了全球制造业的「双引擎」格局。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E2E"/>
                </a:solidFill>
              </a:defRPr>
            </a:pPr>
            <a:r>
              <a:t>中国制造业发展历程（1949-2026）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6766560" cy="59436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76656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第一阶段：奠基与起步（1949-2000）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45720" cy="685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565C0"/>
                </a:solidFill>
              </a:defRPr>
            </a:pPr>
            <a:r>
              <a:t>1949-1957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373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</a:defRPr>
            </a:pPr>
            <a:r>
              <a:t>奠基起步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1167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[一五]计划156个重点项目，奠定工业基础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45720" cy="6858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</a:defRPr>
            </a:pPr>
            <a:r>
              <a:t>1958-1965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651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</a:defRPr>
            </a:pPr>
            <a:r>
              <a:t>自主探索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92607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建立独立自主的工业体系，突破技术封锁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66160"/>
            <a:ext cx="45720" cy="6858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</a:defRPr>
            </a:pPr>
            <a:r>
              <a:t>1966-1978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5661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</a:defRPr>
            </a:pPr>
            <a:r>
              <a:t>三线建设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840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大规模工业迁往内陆，优化工业布局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480560"/>
            <a:ext cx="45720" cy="685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805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</a:defRPr>
            </a:pPr>
            <a:r>
              <a:t>1978-1992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4805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</a:defRPr>
            </a:pPr>
            <a:r>
              <a:t>改革开放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754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沿海开放战略，外资技术引入，乡镇企业崛起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94960"/>
            <a:ext cx="45720" cy="6858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949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</a:defRPr>
            </a:pPr>
            <a:r>
              <a:t>1992-2000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3949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</a:defRPr>
            </a:pPr>
            <a:r>
              <a:t>快速工业化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669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市场化改革深化，轻工业与消费品制造大发展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1051560"/>
            <a:ext cx="6766560" cy="59436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79" y="1051560"/>
            <a:ext cx="6766560" cy="4572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107899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第二阶段：崛起与引领（2001-2026）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1737360"/>
            <a:ext cx="45720" cy="685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17373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</a:defRPr>
            </a:pPr>
            <a:r>
              <a:t>2001-2008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17373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</a:defRPr>
            </a:pPr>
            <a:r>
              <a:t>WTO时代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201167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加入WTO后制造业爆发式增长，融入全球供应链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2651760"/>
            <a:ext cx="45720" cy="685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26517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</a:defRPr>
            </a:pPr>
            <a:r>
              <a:t>2009-2014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2651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</a:defRPr>
            </a:pPr>
            <a:r>
              <a:t>转型升级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92607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金融危机后加速产业升级，2010年超越美国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3566160"/>
            <a:ext cx="45720" cy="685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35661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66"/>
                </a:solidFill>
              </a:defRPr>
            </a:pPr>
            <a:r>
              <a:t>2015-2019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35661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</a:defRPr>
            </a:pPr>
            <a:r>
              <a:t>中国制造2025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3840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高端制造战略推进，新兴产业全面崛起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4480560"/>
            <a:ext cx="45720" cy="6858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44805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8C00"/>
                </a:solidFill>
              </a:defRPr>
            </a:pPr>
            <a:r>
              <a:t>2020-2023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44805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</a:defRPr>
            </a:pPr>
            <a:r>
              <a:t>疫后超车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4754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率先复工复产，全球份额持续扩大至30%+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0" y="5394960"/>
            <a:ext cx="45720" cy="6858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53949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8C00"/>
                </a:solidFill>
              </a:defRPr>
            </a:pPr>
            <a:r>
              <a:t>2024-2026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53949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</a:defRPr>
            </a:pPr>
            <a:r>
              <a:t>引领时代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5669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新能源、AI制造、航天等领域全面领先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7223760"/>
            <a:ext cx="13716000" cy="45720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72237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</a:defRPr>
            </a:pPr>
            <a:r>
              <a:t>从1949年工业基础近乎空白，到2024年全球制造业第一大国——中国用75年走完了发达国家200年的工业化历程。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E2E"/>
                </a:solidFill>
              </a:defRPr>
            </a:pPr>
            <a:r>
              <a:t>中国制造业崛起五大核心驱动力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606040" cy="576072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60604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65C0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E2E"/>
                </a:solidFill>
              </a:defRPr>
            </a:pPr>
            <a:r>
              <a:t>人才红利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565C0"/>
                </a:solidFill>
              </a:defRPr>
            </a:pPr>
            <a:r>
              <a:t>全球最大工程师群体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1460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❖ 每年500万STEM毕业生</a:t>
            </a:r>
            <a:br/>
            <a:r>
              <a:t>❖ 工程师数量超800万</a:t>
            </a:r>
            <a:br/>
            <a:r>
              <a:t>❖ 产业工人1.5亿，素质持续提升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051560"/>
            <a:ext cx="2606040" cy="576072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051560"/>
            <a:ext cx="260604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234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97B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E2E"/>
                </a:solidFill>
              </a:defRPr>
            </a:pPr>
            <a:r>
              <a:t>基础设施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0574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97B"/>
                </a:solidFill>
              </a:defRPr>
            </a:pPr>
            <a:r>
              <a:t>世界级基础设施网络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51460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❖ 高铁4.5万公里（全球2/3）</a:t>
            </a:r>
            <a:br/>
            <a:r>
              <a:t>❖ 高速公路17万公里</a:t>
            </a:r>
            <a:br/>
            <a:r>
              <a:t>❖ 港口吞吐量全球Top10占7席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051560"/>
            <a:ext cx="2606040" cy="576072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051560"/>
            <a:ext cx="2606040" cy="54864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234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8C00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6916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E2E"/>
                </a:solidFill>
              </a:defRPr>
            </a:pPr>
            <a:r>
              <a:t>供应链集群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0574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8C00"/>
                </a:solidFill>
              </a:defRPr>
            </a:pPr>
            <a:r>
              <a:t>全球最完整产业链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51460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❖ 41个工业大类全覆盖</a:t>
            </a:r>
            <a:br/>
            <a:r>
              <a:t>❖ 方圆500公里完成99%采购</a:t>
            </a:r>
            <a:br/>
            <a:r>
              <a:t>❖ 世界工厂的效率与弹性优势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3960" y="1051560"/>
            <a:ext cx="2606040" cy="576072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23960" y="1051560"/>
            <a:ext cx="2606040" cy="54864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1234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B342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16916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E2E"/>
                </a:solidFill>
              </a:defRPr>
            </a:pPr>
            <a:r>
              <a:t>政策推动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0574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B342"/>
                </a:solidFill>
              </a:defRPr>
            </a:pPr>
            <a:r>
              <a:t>强有力的产业政策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51460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❖ 国家战略长期稳定投入</a:t>
            </a:r>
            <a:br/>
            <a:r>
              <a:t>❖ 自贸区、高新区覆盖全国</a:t>
            </a:r>
            <a:br/>
            <a:r>
              <a:t>❖ 税收优惠与产业基金支持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612880" y="1051560"/>
            <a:ext cx="2606040" cy="576072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612880" y="1051560"/>
            <a:ext cx="2606040" cy="54864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50040" y="1234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E24AA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50040" y="16916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E2E"/>
                </a:solidFill>
              </a:defRPr>
            </a:pPr>
            <a:r>
              <a:t>创新驱动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50040" y="20574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24AA"/>
                </a:solidFill>
              </a:defRPr>
            </a:pPr>
            <a:r>
              <a:t>研发投入全球第二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50040" y="251460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❖ 年研发经费超$4000亿</a:t>
            </a:r>
            <a:br/>
            <a:r>
              <a:t>❖ PCT国际专利申请量全球第一</a:t>
            </a:r>
            <a:br/>
            <a:r>
              <a:t>❖ 独角兽企业数量全球第二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7040880"/>
            <a:ext cx="12801600" cy="45720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70408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</a:defRPr>
            </a:pPr>
            <a:r>
              <a:t>五大因素协同发力，推动中国制造业从「跟跑」到「并跑」再到「领跑」的跨越式发展。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E2E"/>
                </a:solidFill>
              </a:defRPr>
            </a:pPr>
            <a:r>
              <a:t>机遇、挑战与总结展望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6766560" cy="256032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766560" cy="4114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69848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机遇 [上升]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</a:defRPr>
            </a:pPr>
          </a:p>
          <a:p>
            <a:pPr algn="l">
              <a:spcBef>
                <a:spcPts val="300"/>
              </a:spcBef>
              <a:defRPr sz="1300" b="0">
                <a:solidFill>
                  <a:srgbClr val="1E1E2E"/>
                </a:solidFill>
              </a:defRPr>
            </a:pPr>
            <a:r>
              <a:t>▸ 智能制造与AI深度融合，生产效率有50%以上提升空间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1E1E2E"/>
                </a:solidFill>
              </a:defRPr>
            </a:pPr>
            <a:r>
              <a:t>▸ 绿色转型带来新能源装备、环保技术万亿级新市场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1E1E2E"/>
                </a:solidFill>
              </a:defRPr>
            </a:pPr>
            <a:r>
              <a:t>▸ [一带一路]沿线国家基建需求持续释放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1E1E2E"/>
                </a:solidFill>
              </a:defRPr>
            </a:pPr>
            <a:r>
              <a:t>▸ RCEP框架下亚太产业链整合，增强区域协同优势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1E1E2E"/>
                </a:solidFill>
              </a:defRPr>
            </a:pPr>
            <a:r>
              <a:t>▸ 人口质量红利替代数量红利，工程师红利持续释放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840480"/>
            <a:ext cx="6766560" cy="301752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840480"/>
            <a:ext cx="6766560" cy="4114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58768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挑战 [警告]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6217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2E"/>
                </a:solidFill>
              </a:defRPr>
            </a:pPr>
          </a:p>
          <a:p>
            <a:pPr algn="l">
              <a:spcBef>
                <a:spcPts val="300"/>
              </a:spcBef>
              <a:defRPr sz="1300" b="0">
                <a:solidFill>
                  <a:srgbClr val="1E1E2E"/>
                </a:solidFill>
              </a:defRPr>
            </a:pPr>
            <a:r>
              <a:t>▸ 人口老龄化加速，劳动力成本持续上升（年均增长8-10%）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1E1E2E"/>
                </a:solidFill>
              </a:defRPr>
            </a:pPr>
            <a:r>
              <a:t>▸ 核心技术[卡脖子]问题，芯片、高端装备等仍依赖进口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1E1E2E"/>
                </a:solidFill>
              </a:defRPr>
            </a:pPr>
            <a:r>
              <a:t>▸ 地缘政治摩擦加剧，贸易壁垒与供应链脱钩风险上升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1E1E2E"/>
                </a:solidFill>
              </a:defRPr>
            </a:pPr>
            <a:r>
              <a:t>▸ 部分低端制造业向东南亚、印度转移的压力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1E1E2E"/>
                </a:solidFill>
              </a:defRPr>
            </a:pPr>
            <a:r>
              <a:t>▸ 环保与碳排放约束趋严，高耗能产业面临转型压力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051560"/>
            <a:ext cx="6766560" cy="621792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1051560"/>
            <a:ext cx="6766560" cy="41148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069848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总结 [数据]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55448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</a:defRPr>
            </a:pPr>
            <a:r>
              <a:t>中国制造业75年发展成就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103120"/>
            <a:ext cx="5943600" cy="68580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13055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65C0"/>
                </a:solidFill>
              </a:defRPr>
            </a:pPr>
            <a:r>
              <a:t>$4.7万亿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45059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制造业增加值</a:t>
            </a:r>
            <a:br/>
            <a:r>
              <a:t>全球第一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971800"/>
            <a:ext cx="5943600" cy="68580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9992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65C0"/>
                </a:solidFill>
              </a:defRPr>
            </a:pPr>
            <a:r>
              <a:t>30%+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192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占全球比重</a:t>
            </a:r>
            <a:br/>
            <a:r>
              <a:t>遥遥领先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3840479"/>
            <a:ext cx="5943600" cy="68580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86791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65C0"/>
                </a:solidFill>
              </a:defRPr>
            </a:pPr>
            <a:r>
              <a:t>220+种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18795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产品产量</a:t>
            </a:r>
            <a:br/>
            <a:r>
              <a:t>全球第一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4709159"/>
            <a:ext cx="5943600" cy="68580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47365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65C0"/>
                </a:solidFill>
              </a:defRPr>
            </a:pPr>
            <a:r>
              <a:t>41大类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05663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全产业链</a:t>
            </a:r>
            <a:br/>
            <a:r>
              <a:t>全球唯一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66928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97B"/>
                </a:solidFill>
              </a:defRPr>
            </a:pPr>
            <a:r>
              <a:t>中国已从「世界工厂」转型为「全球制造强国」</a:t>
            </a:r>
            <a:br/>
            <a:r>
              <a:t>智能制造+绿色制造双轮驱动</a:t>
            </a:r>
            <a:br/>
            <a:r>
              <a:t>未来十年仍是全球制造业增长的核心引擎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2E"/>
                </a:solidFill>
              </a:defRPr>
            </a:pPr>
            <a: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657600"/>
            <a:ext cx="14630400" cy="182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565C0"/>
                </a:solidFill>
              </a:defRPr>
            </a:pPr>
            <a:r>
              <a:t>从制造大国迈向制造强国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中国制造业的崛起是全球化进程中最重要的经济现象之一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4389120"/>
            <a:ext cx="10058400" cy="228600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4572000"/>
            <a:ext cx="9144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</a:p>
          <a:p>
            <a:pPr algn="ctr">
              <a:spcBef>
                <a:spcPts val="600"/>
              </a:spcBef>
              <a:defRPr sz="1300" b="0">
                <a:solidFill>
                  <a:srgbClr val="666666"/>
                </a:solidFill>
              </a:defRPr>
            </a:pPr>
            <a:r>
              <a:t>数据来源：世界银行、联合国工业发展组织(UNIDO)、中国国家统计局</a:t>
            </a:r>
          </a:p>
          <a:p>
            <a:pPr algn="ctr">
              <a:spcBef>
                <a:spcPts val="600"/>
              </a:spcBef>
              <a:defRPr sz="1300" b="0">
                <a:solidFill>
                  <a:srgbClr val="666666"/>
                </a:solidFill>
              </a:defRPr>
            </a:pPr>
            <a:r>
              <a:t>世界500强数据来源于《财富》杂志 | 就业人口数据来源于ILO国际劳工组织</a:t>
            </a:r>
          </a:p>
          <a:p>
            <a:pPr algn="ctr">
              <a:spcBef>
                <a:spcPts val="600"/>
              </a:spcBef>
              <a:defRPr sz="1300" b="0">
                <a:solidFill>
                  <a:srgbClr val="666666"/>
                </a:solidFill>
              </a:defRPr>
            </a:pPr>
            <a:r>
              <a:t>制造业增加值(MVA)为当前美元计价，部分数据为估算值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565C0"/>
                </a:solidFill>
              </a:defRPr>
            </a:pPr>
            <a:r>
              <a:rPr sz="1600" b="1">
                <a:solidFill>
                  <a:srgbClr val="1565C0"/>
                </a:solidFill>
              </a:rPr>
              <a:t>作者：foy.fan@outlook.com</a:t>
            </a:r>
          </a:p>
          <a:p>
            <a:pPr algn="ctr">
              <a:spcBef>
                <a:spcPts val="600"/>
              </a:spcBef>
              <a:defRPr sz="1300" b="0">
                <a:solidFill>
                  <a:srgbClr val="666666"/>
                </a:solidFill>
              </a:defRPr>
            </a:pPr>
            <a:r>
              <a:t>2024年编撰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